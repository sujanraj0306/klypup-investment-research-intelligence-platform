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2D5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280160"/>
          </a:xfrm>
          <a:prstGeom prst="rect">
            <a:avLst/>
          </a:prstGeom>
          <a:noFill/>
        </p:spPr>
        <p:txBody>
          <a:bodyPr wrap="square" lIns="0" rIns="0" tIns="0" bIns="0">
            <a:spAutoFit/>
          </a:bodyPr>
          <a:lstStyle/>
          <a:p>
            <a:pPr algn="l">
              <a:lnSpc>
                <a:spcPct val="125000"/>
              </a:lnSpc>
            </a:pPr>
            <a:r>
              <a:rPr sz="7200" b="1" i="0">
                <a:solidFill>
                  <a:srgbClr val="111B30"/>
                </a:solidFill>
                <a:latin typeface="Inter"/>
              </a:rPr>
              <a:t>Klypup</a:t>
            </a:r>
          </a:p>
        </p:txBody>
      </p:sp>
      <p:sp>
        <p:nvSpPr>
          <p:cNvPr id="4" name="TextBox 3"/>
          <p:cNvSpPr txBox="1"/>
          <p:nvPr/>
        </p:nvSpPr>
        <p:spPr>
          <a:xfrm>
            <a:off x="914400" y="2560320"/>
            <a:ext cx="10058400" cy="640080"/>
          </a:xfrm>
          <a:prstGeom prst="rect">
            <a:avLst/>
          </a:prstGeom>
          <a:noFill/>
        </p:spPr>
        <p:txBody>
          <a:bodyPr wrap="square" lIns="0" rIns="0" tIns="0" bIns="0">
            <a:spAutoFit/>
          </a:bodyPr>
          <a:lstStyle/>
          <a:p>
            <a:pPr algn="l">
              <a:lnSpc>
                <a:spcPct val="125000"/>
              </a:lnSpc>
            </a:pPr>
            <a:r>
              <a:rPr sz="2800" b="0" i="0">
                <a:solidFill>
                  <a:srgbClr val="4A556A"/>
                </a:solidFill>
                <a:latin typeface="Inter"/>
              </a:rPr>
              <a:t>Investment Research Intelligence</a:t>
            </a:r>
          </a:p>
        </p:txBody>
      </p:sp>
      <p:cxnSp>
        <p:nvCxnSpPr>
          <p:cNvPr id="5" name="Connector 4"/>
          <p:cNvCxnSpPr/>
          <p:nvPr/>
        </p:nvCxnSpPr>
        <p:spPr>
          <a:xfrm>
            <a:off x="914400" y="3429000"/>
            <a:ext cx="2286000" cy="0"/>
          </a:xfrm>
          <a:prstGeom prst="line">
            <a:avLst/>
          </a:prstGeom>
          <a:ln w="38100">
            <a:solidFill>
              <a:srgbClr val="2D5BD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14400" y="3611880"/>
            <a:ext cx="10332720" cy="1828800"/>
          </a:xfrm>
          <a:prstGeom prst="rect">
            <a:avLst/>
          </a:prstGeom>
          <a:noFill/>
        </p:spPr>
        <p:txBody>
          <a:bodyPr wrap="square" lIns="0" rIns="0" tIns="0" bIns="0">
            <a:spAutoFit/>
          </a:bodyPr>
          <a:lstStyle/>
          <a:p>
            <a:pPr>
              <a:lnSpc>
                <a:spcPct val="132000"/>
              </a:lnSpc>
              <a:spcAft>
                <a:spcPts val="800"/>
              </a:spcAft>
            </a:pPr>
            <a:r>
              <a:rPr sz="1800">
                <a:solidFill>
                  <a:srgbClr val="111B30"/>
                </a:solidFill>
                <a:latin typeface="Inter"/>
              </a:rPr>
              <a:t>A browser-based research agent that turns a plain-English question into a sourced, structured, streaming report in 20-45 seconds.</a:t>
            </a:r>
          </a:p>
          <a:p>
            <a:pPr>
              <a:lnSpc>
                <a:spcPct val="132000"/>
              </a:lnSpc>
              <a:spcAft>
                <a:spcPts val="800"/>
              </a:spcAft>
            </a:pPr>
            <a:r>
              <a:rPr sz="1800">
                <a:solidFill>
                  <a:srgbClr val="111B30"/>
                </a:solidFill>
                <a:latin typeface="Inter"/>
              </a:rPr>
              <a:t>Powered by Gemini 2.5 Flash function calling, six orchestrated data tools, Firestore for canonical state, and Supabase pgvector for semantic memory across past reports.</a:t>
            </a:r>
          </a:p>
        </p:txBody>
      </p:sp>
      <p:sp>
        <p:nvSpPr>
          <p:cNvPr id="7" name="Rounded Rectangle 6"/>
          <p:cNvSpPr/>
          <p:nvPr/>
        </p:nvSpPr>
        <p:spPr>
          <a:xfrm>
            <a:off x="914400" y="5577840"/>
            <a:ext cx="6858000" cy="685800"/>
          </a:xfrm>
          <a:prstGeom prst="roundRect">
            <a:avLst>
              <a:gd name="adj" fmla="val 6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715000"/>
            <a:ext cx="6858000" cy="457200"/>
          </a:xfrm>
          <a:prstGeom prst="rect">
            <a:avLst/>
          </a:prstGeom>
          <a:noFill/>
        </p:spPr>
        <p:txBody>
          <a:bodyPr wrap="square" lIns="0" rIns="0" tIns="0" bIns="0">
            <a:spAutoFit/>
          </a:bodyPr>
          <a:lstStyle/>
          <a:p>
            <a:pPr algn="ctr">
              <a:lnSpc>
                <a:spcPct val="125000"/>
              </a:lnSpc>
            </a:pPr>
            <a:r>
              <a:rPr sz="1600" b="1" i="0">
                <a:solidFill>
                  <a:srgbClr val="2D5BD8"/>
                </a:solidFill>
                <a:latin typeface="Inter"/>
              </a:rPr>
              <a:t>▶  Watch the demo first  →  https://youtu.be/7bVMFYfFz_A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WHAT WE'LL COVER</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Agenda</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1000"/>
              </a:spcAft>
            </a:pPr>
            <a:r>
              <a:rPr sz="1500">
                <a:solidFill>
                  <a:srgbClr val="111B30"/>
                </a:solidFill>
                <a:latin typeface="Inter"/>
              </a:rPr>
              <a:t>The business problem — analysts pay $32,000 per seat every year to copy-paste data for days, and the market doesn't wait for them.</a:t>
            </a:r>
          </a:p>
          <a:p>
            <a:pPr>
              <a:lnSpc>
                <a:spcPct val="132000"/>
              </a:lnSpc>
              <a:spcAft>
                <a:spcPts val="1000"/>
              </a:spcAft>
            </a:pPr>
            <a:r>
              <a:rPr sz="1500">
                <a:solidFill>
                  <a:srgbClr val="111B30"/>
                </a:solidFill>
                <a:latin typeface="Inter"/>
              </a:rPr>
              <a:t>The customer segments — sell-side, buy-side, and the long tail of family offices and retail investors priced out of Bloomberg today.</a:t>
            </a:r>
          </a:p>
          <a:p>
            <a:pPr>
              <a:lnSpc>
                <a:spcPct val="132000"/>
              </a:lnSpc>
              <a:spcAft>
                <a:spcPts val="1000"/>
              </a:spcAft>
            </a:pPr>
            <a:r>
              <a:rPr sz="1500">
                <a:solidFill>
                  <a:srgbClr val="111B30"/>
                </a:solidFill>
                <a:latin typeface="Inter"/>
              </a:rPr>
              <a:t>The Klypup solution — one sentence, then a guided walk-through of each major feature with the technology behind it.</a:t>
            </a:r>
          </a:p>
          <a:p>
            <a:pPr>
              <a:lnSpc>
                <a:spcPct val="132000"/>
              </a:lnSpc>
              <a:spcAft>
                <a:spcPts val="1000"/>
              </a:spcAft>
            </a:pPr>
            <a:r>
              <a:rPr sz="1500">
                <a:solidFill>
                  <a:srgbClr val="111B30"/>
                </a:solidFill>
                <a:latin typeface="Inter"/>
              </a:rPr>
              <a:t>Technical architecture — how the Gemini 2.5 Flash research agent picks tools at runtime, streams sections to the browser over Server-Sent Events, and stores semantic memory across reports.</a:t>
            </a:r>
          </a:p>
          <a:p>
            <a:pPr>
              <a:lnSpc>
                <a:spcPct val="132000"/>
              </a:lnSpc>
              <a:spcAft>
                <a:spcPts val="1000"/>
              </a:spcAft>
            </a:pPr>
            <a:r>
              <a:rPr sz="1500">
                <a:solidFill>
                  <a:srgbClr val="111B30"/>
                </a:solidFill>
                <a:latin typeface="Inter"/>
              </a:rPr>
              <a:t>Business impact, cost economics, robustness, and the 90-day roadmap.</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31520" y="2194560"/>
            <a:ext cx="1828800" cy="914400"/>
          </a:xfrm>
          <a:prstGeom prst="rect">
            <a:avLst/>
          </a:prstGeom>
          <a:noFill/>
        </p:spPr>
        <p:txBody>
          <a:bodyPr wrap="square" lIns="0" rIns="0" tIns="0" bIns="0">
            <a:spAutoFit/>
          </a:bodyPr>
          <a:lstStyle/>
          <a:p>
            <a:pPr algn="l">
              <a:lnSpc>
                <a:spcPct val="125000"/>
              </a:lnSpc>
            </a:pPr>
            <a:r>
              <a:rPr sz="9600" b="1" i="0">
                <a:solidFill>
                  <a:srgbClr val="2D5BD8"/>
                </a:solidFill>
                <a:latin typeface="Inter"/>
              </a:rPr>
              <a:t>01</a:t>
            </a:r>
          </a:p>
        </p:txBody>
      </p:sp>
      <p:sp>
        <p:nvSpPr>
          <p:cNvPr id="3" name="TextBox 2"/>
          <p:cNvSpPr txBox="1"/>
          <p:nvPr/>
        </p:nvSpPr>
        <p:spPr>
          <a:xfrm>
            <a:off x="2560320" y="2468880"/>
            <a:ext cx="9144000" cy="1097280"/>
          </a:xfrm>
          <a:prstGeom prst="rect">
            <a:avLst/>
          </a:prstGeom>
          <a:noFill/>
        </p:spPr>
        <p:txBody>
          <a:bodyPr wrap="square" lIns="0" rIns="0" tIns="0" bIns="0">
            <a:spAutoFit/>
          </a:bodyPr>
          <a:lstStyle/>
          <a:p>
            <a:pPr algn="l">
              <a:lnSpc>
                <a:spcPct val="125000"/>
              </a:lnSpc>
            </a:pPr>
            <a:r>
              <a:rPr sz="4400" b="1" i="0">
                <a:solidFill>
                  <a:srgbClr val="111B30"/>
                </a:solidFill>
                <a:latin typeface="Inter"/>
              </a:rPr>
              <a:t>The problem</a:t>
            </a:r>
          </a:p>
        </p:txBody>
      </p:sp>
      <p:sp>
        <p:nvSpPr>
          <p:cNvPr id="4" name="TextBox 3"/>
          <p:cNvSpPr txBox="1"/>
          <p:nvPr/>
        </p:nvSpPr>
        <p:spPr>
          <a:xfrm>
            <a:off x="2560320" y="3657600"/>
            <a:ext cx="9144000" cy="1280160"/>
          </a:xfrm>
          <a:prstGeom prst="rect">
            <a:avLst/>
          </a:prstGeom>
          <a:noFill/>
        </p:spPr>
        <p:txBody>
          <a:bodyPr wrap="square" lIns="0" rIns="0" tIns="0" bIns="0">
            <a:spAutoFit/>
          </a:bodyPr>
          <a:lstStyle/>
          <a:p>
            <a:pPr algn="l">
              <a:lnSpc>
                <a:spcPct val="135000"/>
              </a:lnSpc>
            </a:pPr>
            <a:r>
              <a:rPr sz="1800" b="0" i="0">
                <a:solidFill>
                  <a:srgbClr val="4A556A"/>
                </a:solidFill>
                <a:latin typeface="Inter"/>
              </a:rPr>
              <a:t>Research analysts already own the tools and the data. What they don't own is the time. A two-to-five day report cycle means the market has moved before the analyst can deliver the answer.</a:t>
            </a:r>
          </a:p>
        </p:txBody>
      </p:sp>
      <p:sp>
        <p:nvSpPr>
          <p:cNvPr id="5" name="TextBox 4"/>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6" name="TextBox 5"/>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7" name="TextBox 6"/>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THE PROBLEM</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The numbers behind the pain</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57200" y="1645920"/>
            <a:ext cx="3566160" cy="2194560"/>
          </a:xfrm>
          <a:prstGeom prst="roundRect">
            <a:avLst>
              <a:gd name="adj" fmla="val 6000"/>
            </a:avLst>
          </a:prstGeom>
          <a:solidFill>
            <a:srgbClr val="FFFFFF"/>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3200400" cy="822960"/>
          </a:xfrm>
          <a:prstGeom prst="rect">
            <a:avLst/>
          </a:prstGeom>
          <a:noFill/>
        </p:spPr>
        <p:txBody>
          <a:bodyPr wrap="square" lIns="0" rIns="0" tIns="0" bIns="0">
            <a:spAutoFit/>
          </a:bodyPr>
          <a:lstStyle/>
          <a:p>
            <a:pPr algn="l">
              <a:lnSpc>
                <a:spcPct val="125000"/>
              </a:lnSpc>
            </a:pPr>
            <a:r>
              <a:rPr sz="3400" b="1" i="0">
                <a:solidFill>
                  <a:srgbClr val="2D5BD8"/>
                </a:solidFill>
                <a:latin typeface="Inter"/>
              </a:rPr>
              <a:t>~65%</a:t>
            </a:r>
          </a:p>
        </p:txBody>
      </p:sp>
      <p:sp>
        <p:nvSpPr>
          <p:cNvPr id="7" name="TextBox 6"/>
          <p:cNvSpPr txBox="1"/>
          <p:nvPr/>
        </p:nvSpPr>
        <p:spPr>
          <a:xfrm>
            <a:off x="640080" y="2606040"/>
            <a:ext cx="3200400" cy="868680"/>
          </a:xfrm>
          <a:prstGeom prst="rect">
            <a:avLst/>
          </a:prstGeom>
          <a:noFill/>
        </p:spPr>
        <p:txBody>
          <a:bodyPr wrap="square" lIns="0" rIns="0" tIns="0" bIns="0">
            <a:spAutoFit/>
          </a:bodyPr>
          <a:lstStyle/>
          <a:p>
            <a:pPr algn="l">
              <a:lnSpc>
                <a:spcPct val="125000"/>
              </a:lnSpc>
            </a:pPr>
            <a:r>
              <a:rPr sz="1200" b="0" i="0">
                <a:solidFill>
                  <a:srgbClr val="111B30"/>
                </a:solidFill>
                <a:latin typeface="Inter"/>
              </a:rPr>
              <a:t>of analyst time is spent on data gathering and validation, not insight generation.</a:t>
            </a:r>
          </a:p>
        </p:txBody>
      </p:sp>
      <p:sp>
        <p:nvSpPr>
          <p:cNvPr id="8" name="TextBox 7"/>
          <p:cNvSpPr txBox="1"/>
          <p:nvPr/>
        </p:nvSpPr>
        <p:spPr>
          <a:xfrm>
            <a:off x="640080" y="3429000"/>
            <a:ext cx="3200400" cy="274320"/>
          </a:xfrm>
          <a:prstGeom prst="rect">
            <a:avLst/>
          </a:prstGeom>
          <a:noFill/>
        </p:spPr>
        <p:txBody>
          <a:bodyPr wrap="square" lIns="0" rIns="0" tIns="0" bIns="0">
            <a:spAutoFit/>
          </a:bodyPr>
          <a:lstStyle/>
          <a:p>
            <a:pPr algn="l">
              <a:lnSpc>
                <a:spcPct val="125000"/>
              </a:lnSpc>
            </a:pPr>
            <a:r>
              <a:rPr sz="850" b="0" i="1">
                <a:solidFill>
                  <a:srgbClr val="4A556A"/>
                </a:solidFill>
                <a:latin typeface="Inter"/>
              </a:rPr>
              <a:t>FP&amp;A Trends Survey 2024</a:t>
            </a:r>
          </a:p>
        </p:txBody>
      </p:sp>
      <p:sp>
        <p:nvSpPr>
          <p:cNvPr id="9" name="Rounded Rectangle 8"/>
          <p:cNvSpPr/>
          <p:nvPr/>
        </p:nvSpPr>
        <p:spPr>
          <a:xfrm>
            <a:off x="4160520" y="1645920"/>
            <a:ext cx="3566160" cy="2194560"/>
          </a:xfrm>
          <a:prstGeom prst="roundRect">
            <a:avLst>
              <a:gd name="adj" fmla="val 6000"/>
            </a:avLst>
          </a:prstGeom>
          <a:solidFill>
            <a:srgbClr val="FFFFFF"/>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1828800"/>
            <a:ext cx="3200400" cy="822960"/>
          </a:xfrm>
          <a:prstGeom prst="rect">
            <a:avLst/>
          </a:prstGeom>
          <a:noFill/>
        </p:spPr>
        <p:txBody>
          <a:bodyPr wrap="square" lIns="0" rIns="0" tIns="0" bIns="0">
            <a:spAutoFit/>
          </a:bodyPr>
          <a:lstStyle/>
          <a:p>
            <a:pPr algn="l">
              <a:lnSpc>
                <a:spcPct val="125000"/>
              </a:lnSpc>
            </a:pPr>
            <a:r>
              <a:rPr sz="3400" b="1" i="0">
                <a:solidFill>
                  <a:srgbClr val="2D5BD8"/>
                </a:solidFill>
                <a:latin typeface="Inter"/>
              </a:rPr>
              <a:t>$31,980</a:t>
            </a:r>
          </a:p>
        </p:txBody>
      </p:sp>
      <p:sp>
        <p:nvSpPr>
          <p:cNvPr id="11" name="TextBox 10"/>
          <p:cNvSpPr txBox="1"/>
          <p:nvPr/>
        </p:nvSpPr>
        <p:spPr>
          <a:xfrm>
            <a:off x="4343400" y="2606040"/>
            <a:ext cx="3200400" cy="868680"/>
          </a:xfrm>
          <a:prstGeom prst="rect">
            <a:avLst/>
          </a:prstGeom>
          <a:noFill/>
        </p:spPr>
        <p:txBody>
          <a:bodyPr wrap="square" lIns="0" rIns="0" tIns="0" bIns="0">
            <a:spAutoFit/>
          </a:bodyPr>
          <a:lstStyle/>
          <a:p>
            <a:pPr algn="l">
              <a:lnSpc>
                <a:spcPct val="125000"/>
              </a:lnSpc>
            </a:pPr>
            <a:r>
              <a:rPr sz="1200" b="0" i="0">
                <a:solidFill>
                  <a:srgbClr val="111B30"/>
                </a:solidFill>
                <a:latin typeface="Inter"/>
              </a:rPr>
              <a:t>is the annual list price of a single Bloomberg Terminal seat in 2026.</a:t>
            </a:r>
          </a:p>
        </p:txBody>
      </p:sp>
      <p:sp>
        <p:nvSpPr>
          <p:cNvPr id="12" name="TextBox 11"/>
          <p:cNvSpPr txBox="1"/>
          <p:nvPr/>
        </p:nvSpPr>
        <p:spPr>
          <a:xfrm>
            <a:off x="4343400" y="3429000"/>
            <a:ext cx="3200400" cy="274320"/>
          </a:xfrm>
          <a:prstGeom prst="rect">
            <a:avLst/>
          </a:prstGeom>
          <a:noFill/>
        </p:spPr>
        <p:txBody>
          <a:bodyPr wrap="square" lIns="0" rIns="0" tIns="0" bIns="0">
            <a:spAutoFit/>
          </a:bodyPr>
          <a:lstStyle/>
          <a:p>
            <a:pPr algn="l">
              <a:lnSpc>
                <a:spcPct val="125000"/>
              </a:lnSpc>
            </a:pPr>
            <a:r>
              <a:rPr sz="850" b="0" i="1">
                <a:solidFill>
                  <a:srgbClr val="4A556A"/>
                </a:solidFill>
                <a:latin typeface="Inter"/>
              </a:rPr>
              <a:t>Bloomberg pricing, 2026</a:t>
            </a:r>
          </a:p>
        </p:txBody>
      </p:sp>
      <p:sp>
        <p:nvSpPr>
          <p:cNvPr id="13" name="Rounded Rectangle 12"/>
          <p:cNvSpPr/>
          <p:nvPr/>
        </p:nvSpPr>
        <p:spPr>
          <a:xfrm>
            <a:off x="7863840" y="1645920"/>
            <a:ext cx="3566160" cy="2194560"/>
          </a:xfrm>
          <a:prstGeom prst="roundRect">
            <a:avLst>
              <a:gd name="adj" fmla="val 6000"/>
            </a:avLst>
          </a:prstGeom>
          <a:solidFill>
            <a:srgbClr val="FFFFFF"/>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19" y="1828800"/>
            <a:ext cx="3200400" cy="822960"/>
          </a:xfrm>
          <a:prstGeom prst="rect">
            <a:avLst/>
          </a:prstGeom>
          <a:noFill/>
        </p:spPr>
        <p:txBody>
          <a:bodyPr wrap="square" lIns="0" rIns="0" tIns="0" bIns="0">
            <a:spAutoFit/>
          </a:bodyPr>
          <a:lstStyle/>
          <a:p>
            <a:pPr algn="l">
              <a:lnSpc>
                <a:spcPct val="125000"/>
              </a:lnSpc>
            </a:pPr>
            <a:r>
              <a:rPr sz="3400" b="1" i="0">
                <a:solidFill>
                  <a:srgbClr val="2D5BD8"/>
                </a:solidFill>
                <a:latin typeface="Inter"/>
              </a:rPr>
              <a:t>$44.3 B</a:t>
            </a:r>
          </a:p>
        </p:txBody>
      </p:sp>
      <p:sp>
        <p:nvSpPr>
          <p:cNvPr id="15" name="TextBox 14"/>
          <p:cNvSpPr txBox="1"/>
          <p:nvPr/>
        </p:nvSpPr>
        <p:spPr>
          <a:xfrm>
            <a:off x="8046719" y="2606040"/>
            <a:ext cx="3200400" cy="868680"/>
          </a:xfrm>
          <a:prstGeom prst="rect">
            <a:avLst/>
          </a:prstGeom>
          <a:noFill/>
        </p:spPr>
        <p:txBody>
          <a:bodyPr wrap="square" lIns="0" rIns="0" tIns="0" bIns="0">
            <a:spAutoFit/>
          </a:bodyPr>
          <a:lstStyle/>
          <a:p>
            <a:pPr algn="l">
              <a:lnSpc>
                <a:spcPct val="125000"/>
              </a:lnSpc>
            </a:pPr>
            <a:r>
              <a:rPr sz="1200" b="0" i="0">
                <a:solidFill>
                  <a:srgbClr val="111B30"/>
                </a:solidFill>
                <a:latin typeface="Inter"/>
              </a:rPr>
              <a:t>was spent globally on financial market data in 2024; $49.2 B in 2025.</a:t>
            </a:r>
          </a:p>
        </p:txBody>
      </p:sp>
      <p:sp>
        <p:nvSpPr>
          <p:cNvPr id="16" name="TextBox 15"/>
          <p:cNvSpPr txBox="1"/>
          <p:nvPr/>
        </p:nvSpPr>
        <p:spPr>
          <a:xfrm>
            <a:off x="8046719" y="3429000"/>
            <a:ext cx="3200400" cy="274320"/>
          </a:xfrm>
          <a:prstGeom prst="rect">
            <a:avLst/>
          </a:prstGeom>
          <a:noFill/>
        </p:spPr>
        <p:txBody>
          <a:bodyPr wrap="square" lIns="0" rIns="0" tIns="0" bIns="0">
            <a:spAutoFit/>
          </a:bodyPr>
          <a:lstStyle/>
          <a:p>
            <a:pPr algn="l">
              <a:lnSpc>
                <a:spcPct val="125000"/>
              </a:lnSpc>
            </a:pPr>
            <a:r>
              <a:rPr sz="850" b="0" i="1">
                <a:solidFill>
                  <a:srgbClr val="4A556A"/>
                </a:solidFill>
                <a:latin typeface="Inter"/>
              </a:rPr>
              <a:t>Burton-Taylor / Finextra</a:t>
            </a:r>
          </a:p>
        </p:txBody>
      </p:sp>
      <p:sp>
        <p:nvSpPr>
          <p:cNvPr id="17" name="Rounded Rectangle 16"/>
          <p:cNvSpPr/>
          <p:nvPr/>
        </p:nvSpPr>
        <p:spPr>
          <a:xfrm>
            <a:off x="457200" y="4023360"/>
            <a:ext cx="3566160" cy="2194560"/>
          </a:xfrm>
          <a:prstGeom prst="roundRect">
            <a:avLst>
              <a:gd name="adj" fmla="val 6000"/>
            </a:avLst>
          </a:prstGeom>
          <a:solidFill>
            <a:srgbClr val="FFFFFF"/>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206240"/>
            <a:ext cx="3200400" cy="822960"/>
          </a:xfrm>
          <a:prstGeom prst="rect">
            <a:avLst/>
          </a:prstGeom>
          <a:noFill/>
        </p:spPr>
        <p:txBody>
          <a:bodyPr wrap="square" lIns="0" rIns="0" tIns="0" bIns="0">
            <a:spAutoFit/>
          </a:bodyPr>
          <a:lstStyle/>
          <a:p>
            <a:pPr algn="l">
              <a:lnSpc>
                <a:spcPct val="125000"/>
              </a:lnSpc>
            </a:pPr>
            <a:r>
              <a:rPr sz="3400" b="1" i="0">
                <a:solidFill>
                  <a:srgbClr val="2D5BD8"/>
                </a:solidFill>
                <a:latin typeface="Inter"/>
              </a:rPr>
              <a:t>27–35%</a:t>
            </a:r>
          </a:p>
        </p:txBody>
      </p:sp>
      <p:sp>
        <p:nvSpPr>
          <p:cNvPr id="19" name="TextBox 18"/>
          <p:cNvSpPr txBox="1"/>
          <p:nvPr/>
        </p:nvSpPr>
        <p:spPr>
          <a:xfrm>
            <a:off x="640080" y="4983480"/>
            <a:ext cx="3200400" cy="868680"/>
          </a:xfrm>
          <a:prstGeom prst="rect">
            <a:avLst/>
          </a:prstGeom>
          <a:noFill/>
        </p:spPr>
        <p:txBody>
          <a:bodyPr wrap="square" lIns="0" rIns="0" tIns="0" bIns="0">
            <a:spAutoFit/>
          </a:bodyPr>
          <a:lstStyle/>
          <a:p>
            <a:pPr algn="l">
              <a:lnSpc>
                <a:spcPct val="125000"/>
              </a:lnSpc>
            </a:pPr>
            <a:r>
              <a:rPr sz="1200" b="0" i="0">
                <a:solidFill>
                  <a:srgbClr val="111B30"/>
                </a:solidFill>
                <a:latin typeface="Inter"/>
              </a:rPr>
              <a:t>front-office productivity gains are projected for top IBs by 2026 with AI.</a:t>
            </a:r>
          </a:p>
        </p:txBody>
      </p:sp>
      <p:sp>
        <p:nvSpPr>
          <p:cNvPr id="20" name="TextBox 19"/>
          <p:cNvSpPr txBox="1"/>
          <p:nvPr/>
        </p:nvSpPr>
        <p:spPr>
          <a:xfrm>
            <a:off x="640080" y="5806440"/>
            <a:ext cx="3200400" cy="274320"/>
          </a:xfrm>
          <a:prstGeom prst="rect">
            <a:avLst/>
          </a:prstGeom>
          <a:noFill/>
        </p:spPr>
        <p:txBody>
          <a:bodyPr wrap="square" lIns="0" rIns="0" tIns="0" bIns="0">
            <a:spAutoFit/>
          </a:bodyPr>
          <a:lstStyle/>
          <a:p>
            <a:pPr algn="l">
              <a:lnSpc>
                <a:spcPct val="125000"/>
              </a:lnSpc>
            </a:pPr>
            <a:r>
              <a:rPr sz="850" b="0" i="1">
                <a:solidFill>
                  <a:srgbClr val="4A556A"/>
                </a:solidFill>
                <a:latin typeface="Inter"/>
              </a:rPr>
              <a:t>Deloitte</a:t>
            </a:r>
          </a:p>
        </p:txBody>
      </p:sp>
      <p:sp>
        <p:nvSpPr>
          <p:cNvPr id="21" name="Rounded Rectangle 20"/>
          <p:cNvSpPr/>
          <p:nvPr/>
        </p:nvSpPr>
        <p:spPr>
          <a:xfrm>
            <a:off x="4160520" y="4023360"/>
            <a:ext cx="3566160" cy="2194560"/>
          </a:xfrm>
          <a:prstGeom prst="roundRect">
            <a:avLst>
              <a:gd name="adj" fmla="val 6000"/>
            </a:avLst>
          </a:prstGeom>
          <a:solidFill>
            <a:srgbClr val="FFFFFF"/>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3400" y="4206240"/>
            <a:ext cx="3200400" cy="822960"/>
          </a:xfrm>
          <a:prstGeom prst="rect">
            <a:avLst/>
          </a:prstGeom>
          <a:noFill/>
        </p:spPr>
        <p:txBody>
          <a:bodyPr wrap="square" lIns="0" rIns="0" tIns="0" bIns="0">
            <a:spAutoFit/>
          </a:bodyPr>
          <a:lstStyle/>
          <a:p>
            <a:pPr algn="l">
              <a:lnSpc>
                <a:spcPct val="125000"/>
              </a:lnSpc>
            </a:pPr>
            <a:r>
              <a:rPr sz="3400" b="1" i="0">
                <a:solidFill>
                  <a:srgbClr val="2D5BD8"/>
                </a:solidFill>
                <a:latin typeface="Inter"/>
              </a:rPr>
              <a:t>80%</a:t>
            </a:r>
          </a:p>
        </p:txBody>
      </p:sp>
      <p:sp>
        <p:nvSpPr>
          <p:cNvPr id="23" name="TextBox 22"/>
          <p:cNvSpPr txBox="1"/>
          <p:nvPr/>
        </p:nvSpPr>
        <p:spPr>
          <a:xfrm>
            <a:off x="4343400" y="4983480"/>
            <a:ext cx="3200400" cy="868680"/>
          </a:xfrm>
          <a:prstGeom prst="rect">
            <a:avLst/>
          </a:prstGeom>
          <a:noFill/>
        </p:spPr>
        <p:txBody>
          <a:bodyPr wrap="square" lIns="0" rIns="0" tIns="0" bIns="0">
            <a:spAutoFit/>
          </a:bodyPr>
          <a:lstStyle/>
          <a:p>
            <a:pPr algn="l">
              <a:lnSpc>
                <a:spcPct val="125000"/>
              </a:lnSpc>
            </a:pPr>
            <a:r>
              <a:rPr sz="1200" b="0" i="0">
                <a:solidFill>
                  <a:srgbClr val="111B30"/>
                </a:solidFill>
                <a:latin typeface="Inter"/>
              </a:rPr>
              <a:t>time savings on data collection reported in the Moody's Research Assistant pilot.</a:t>
            </a:r>
          </a:p>
        </p:txBody>
      </p:sp>
      <p:sp>
        <p:nvSpPr>
          <p:cNvPr id="24" name="TextBox 23"/>
          <p:cNvSpPr txBox="1"/>
          <p:nvPr/>
        </p:nvSpPr>
        <p:spPr>
          <a:xfrm>
            <a:off x="4343400" y="5806440"/>
            <a:ext cx="3200400" cy="274320"/>
          </a:xfrm>
          <a:prstGeom prst="rect">
            <a:avLst/>
          </a:prstGeom>
          <a:noFill/>
        </p:spPr>
        <p:txBody>
          <a:bodyPr wrap="square" lIns="0" rIns="0" tIns="0" bIns="0">
            <a:spAutoFit/>
          </a:bodyPr>
          <a:lstStyle/>
          <a:p>
            <a:pPr algn="l">
              <a:lnSpc>
                <a:spcPct val="125000"/>
              </a:lnSpc>
            </a:pPr>
            <a:r>
              <a:rPr sz="850" b="0" i="1">
                <a:solidFill>
                  <a:srgbClr val="4A556A"/>
                </a:solidFill>
                <a:latin typeface="Inter"/>
              </a:rPr>
              <a:t>Microsoft 2025</a:t>
            </a:r>
          </a:p>
        </p:txBody>
      </p:sp>
      <p:sp>
        <p:nvSpPr>
          <p:cNvPr id="25" name="Rounded Rectangle 24"/>
          <p:cNvSpPr/>
          <p:nvPr/>
        </p:nvSpPr>
        <p:spPr>
          <a:xfrm>
            <a:off x="7863840" y="4023360"/>
            <a:ext cx="3566160" cy="2194560"/>
          </a:xfrm>
          <a:prstGeom prst="roundRect">
            <a:avLst>
              <a:gd name="adj" fmla="val 6000"/>
            </a:avLst>
          </a:prstGeom>
          <a:solidFill>
            <a:srgbClr val="FFFFFF"/>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9" y="4206240"/>
            <a:ext cx="3200400" cy="822960"/>
          </a:xfrm>
          <a:prstGeom prst="rect">
            <a:avLst/>
          </a:prstGeom>
          <a:noFill/>
        </p:spPr>
        <p:txBody>
          <a:bodyPr wrap="square" lIns="0" rIns="0" tIns="0" bIns="0">
            <a:spAutoFit/>
          </a:bodyPr>
          <a:lstStyle/>
          <a:p>
            <a:pPr algn="l">
              <a:lnSpc>
                <a:spcPct val="125000"/>
              </a:lnSpc>
            </a:pPr>
            <a:r>
              <a:rPr sz="3400" b="1" i="0">
                <a:solidFill>
                  <a:srgbClr val="2D5BD8"/>
                </a:solidFill>
                <a:latin typeface="Inter"/>
              </a:rPr>
              <a:t>½</a:t>
            </a:r>
          </a:p>
        </p:txBody>
      </p:sp>
      <p:sp>
        <p:nvSpPr>
          <p:cNvPr id="27" name="TextBox 26"/>
          <p:cNvSpPr txBox="1"/>
          <p:nvPr/>
        </p:nvSpPr>
        <p:spPr>
          <a:xfrm>
            <a:off x="8046719" y="4983480"/>
            <a:ext cx="3200400" cy="868680"/>
          </a:xfrm>
          <a:prstGeom prst="rect">
            <a:avLst/>
          </a:prstGeom>
          <a:noFill/>
        </p:spPr>
        <p:txBody>
          <a:bodyPr wrap="square" lIns="0" rIns="0" tIns="0" bIns="0">
            <a:spAutoFit/>
          </a:bodyPr>
          <a:lstStyle/>
          <a:p>
            <a:pPr algn="l">
              <a:lnSpc>
                <a:spcPct val="125000"/>
              </a:lnSpc>
            </a:pPr>
            <a:r>
              <a:rPr sz="1200" b="0" i="0">
                <a:solidFill>
                  <a:srgbClr val="111B30"/>
                </a:solidFill>
                <a:latin typeface="Inter"/>
              </a:rPr>
              <a:t>cycle time — Schroders analysts go from two weeks to one with AI tools.</a:t>
            </a:r>
          </a:p>
        </p:txBody>
      </p:sp>
      <p:sp>
        <p:nvSpPr>
          <p:cNvPr id="28" name="TextBox 27"/>
          <p:cNvSpPr txBox="1"/>
          <p:nvPr/>
        </p:nvSpPr>
        <p:spPr>
          <a:xfrm>
            <a:off x="8046719" y="5806440"/>
            <a:ext cx="3200400" cy="274320"/>
          </a:xfrm>
          <a:prstGeom prst="rect">
            <a:avLst/>
          </a:prstGeom>
          <a:noFill/>
        </p:spPr>
        <p:txBody>
          <a:bodyPr wrap="square" lIns="0" rIns="0" tIns="0" bIns="0">
            <a:spAutoFit/>
          </a:bodyPr>
          <a:lstStyle/>
          <a:p>
            <a:pPr algn="l">
              <a:lnSpc>
                <a:spcPct val="125000"/>
              </a:lnSpc>
            </a:pPr>
            <a:r>
              <a:rPr sz="850" b="0" i="1">
                <a:solidFill>
                  <a:srgbClr val="4A556A"/>
                </a:solidFill>
                <a:latin typeface="Inter"/>
              </a:rPr>
              <a:t>Schroders</a:t>
            </a:r>
          </a:p>
        </p:txBody>
      </p:sp>
      <p:sp>
        <p:nvSpPr>
          <p:cNvPr id="29" name="TextBox 28"/>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30" name="TextBox 29"/>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31" name="TextBox 30"/>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THE CUSTOMER</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Who feels this pain every day</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1000"/>
              </a:spcAft>
            </a:pPr>
            <a:r>
              <a:rPr sz="1400">
                <a:solidFill>
                  <a:srgbClr val="111B30"/>
                </a:solidFill>
                <a:latin typeface="Inter"/>
              </a:rPr>
              <a:t>Sell-side research analysts at mid-market investment banks refresh coverage on 15-30 companies, with each refresh consuming two to five working days. They already pay $30,000 a year for their Bloomberg seat, and the bulk of their workday is still copy-paste.</a:t>
            </a:r>
          </a:p>
          <a:p>
            <a:pPr>
              <a:lnSpc>
                <a:spcPct val="132000"/>
              </a:lnSpc>
              <a:spcAft>
                <a:spcPts val="1000"/>
              </a:spcAft>
            </a:pPr>
            <a:r>
              <a:rPr sz="1400">
                <a:solidFill>
                  <a:srgbClr val="111B30"/>
                </a:solidFill>
                <a:latin typeface="Inter"/>
              </a:rPr>
              <a:t>Buy-side analysts at long-only funds screen 50+ tickers a week and need sentiment, filings context, and competitor framing faster than they can read. The same seat cost applies, with the same data-gathering burden.</a:t>
            </a:r>
          </a:p>
          <a:p>
            <a:pPr>
              <a:lnSpc>
                <a:spcPct val="132000"/>
              </a:lnSpc>
              <a:spcAft>
                <a:spcPts val="1000"/>
              </a:spcAft>
            </a:pPr>
            <a:r>
              <a:rPr sz="1400">
                <a:solidFill>
                  <a:srgbClr val="111B30"/>
                </a:solidFill>
                <a:latin typeface="Inter"/>
              </a:rPr>
              <a:t>Family office principals and retail investors track around 20 holdings each. They cannot justify a terminal licence, so they fall back to Yahoo Finance and piecemeal news — and systematically leave signals on the table because there is no unified research surface in their price range.</a:t>
            </a:r>
          </a:p>
          <a:p>
            <a:pPr>
              <a:lnSpc>
                <a:spcPct val="132000"/>
              </a:lnSpc>
              <a:spcAft>
                <a:spcPts val="1000"/>
              </a:spcAft>
            </a:pPr>
            <a:r>
              <a:rPr sz="1400">
                <a:solidFill>
                  <a:srgbClr val="111B30"/>
                </a:solidFill>
                <a:latin typeface="Inter"/>
              </a:rPr>
              <a:t>All three segments want the same thing: a trustworthy, cited answer in under a minute, not at the end of a three-day build.</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THE SOLUTION</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What Klypup is</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1463040"/>
          </a:xfrm>
          <a:prstGeom prst="rect">
            <a:avLst/>
          </a:prstGeom>
          <a:noFill/>
        </p:spPr>
        <p:txBody>
          <a:bodyPr wrap="square" lIns="0" rIns="0" tIns="0" bIns="0">
            <a:spAutoFit/>
          </a:bodyPr>
          <a:lstStyle/>
          <a:p>
            <a:pPr algn="l">
              <a:lnSpc>
                <a:spcPct val="140000"/>
              </a:lnSpc>
            </a:pPr>
            <a:r>
              <a:rPr sz="2200" b="0" i="0">
                <a:solidFill>
                  <a:srgbClr val="111B30"/>
                </a:solidFill>
                <a:latin typeface="Inter"/>
              </a:rPr>
              <a:t>Klypup turns a plain-English question into a cited, structured research report in 20 to 45 seconds, grounded in live market data, news, and SEC filings, delivered in a browser on any device.</a:t>
            </a:r>
          </a:p>
        </p:txBody>
      </p:sp>
      <p:sp>
        <p:nvSpPr>
          <p:cNvPr id="6" name="TextBox 5"/>
          <p:cNvSpPr txBox="1"/>
          <p:nvPr/>
        </p:nvSpPr>
        <p:spPr>
          <a:xfrm>
            <a:off x="731520" y="3566160"/>
            <a:ext cx="10698480" cy="2286000"/>
          </a:xfrm>
          <a:prstGeom prst="rect">
            <a:avLst/>
          </a:prstGeom>
          <a:noFill/>
        </p:spPr>
        <p:txBody>
          <a:bodyPr wrap="square" lIns="0" rIns="0" tIns="0" bIns="0">
            <a:spAutoFit/>
          </a:bodyPr>
          <a:lstStyle/>
          <a:p>
            <a:pPr>
              <a:lnSpc>
                <a:spcPct val="132000"/>
              </a:lnSpc>
              <a:spcAft>
                <a:spcPts val="1000"/>
              </a:spcAft>
            </a:pPr>
            <a:r>
              <a:rPr sz="1400">
                <a:solidFill>
                  <a:srgbClr val="4A556A"/>
                </a:solidFill>
                <a:latin typeface="Inter"/>
              </a:rPr>
              <a:t>The product is a single-page React application talking to a FastAPI backend. The backend owns a research agent powered by Gemini 2.5 Flash that picks its own tools at runtime, runs them, and streams a structured JSON report back to the browser in real time.</a:t>
            </a:r>
          </a:p>
          <a:p>
            <a:pPr>
              <a:lnSpc>
                <a:spcPct val="132000"/>
              </a:lnSpc>
              <a:spcAft>
                <a:spcPts val="1000"/>
              </a:spcAft>
            </a:pPr>
            <a:r>
              <a:rPr sz="1400">
                <a:solidFill>
                  <a:srgbClr val="4A556A"/>
                </a:solidFill>
                <a:latin typeface="Inter"/>
              </a:rPr>
              <a:t>Every claim in the report is cited to its source — Financial Modeling Prep, NewsAPI, an SEC filing, a Reddit thread, or a live Google search result. The analyst can click through and verify.</a:t>
            </a:r>
          </a:p>
        </p:txBody>
      </p:sp>
      <p:sp>
        <p:nvSpPr>
          <p:cNvPr id="7" name="Rounded Rectangle 6"/>
          <p:cNvSpPr/>
          <p:nvPr/>
        </p:nvSpPr>
        <p:spPr>
          <a:xfrm>
            <a:off x="731520" y="5760720"/>
            <a:ext cx="10698480" cy="548640"/>
          </a:xfrm>
          <a:prstGeom prst="roundRect">
            <a:avLst>
              <a:gd name="adj" fmla="val 6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870448"/>
            <a:ext cx="10698480" cy="365760"/>
          </a:xfrm>
          <a:prstGeom prst="rect">
            <a:avLst/>
          </a:prstGeom>
          <a:noFill/>
        </p:spPr>
        <p:txBody>
          <a:bodyPr wrap="square" lIns="0" rIns="0" tIns="0" bIns="0">
            <a:spAutoFit/>
          </a:bodyPr>
          <a:lstStyle/>
          <a:p>
            <a:pPr algn="ctr">
              <a:lnSpc>
                <a:spcPct val="125000"/>
              </a:lnSpc>
            </a:pPr>
            <a:r>
              <a:rPr sz="1400" b="1" i="0">
                <a:solidFill>
                  <a:srgbClr val="2D5BD8"/>
                </a:solidFill>
                <a:latin typeface="Inter"/>
              </a:rPr>
              <a:t>▶  Full walk-through on video  →  https://youtu.be/7bVMFYfFz_A</a:t>
            </a:r>
          </a:p>
        </p:txBody>
      </p:sp>
      <p:sp>
        <p:nvSpPr>
          <p:cNvPr id="9" name="TextBox 8"/>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10" name="TextBox 9"/>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11" name="TextBox 10"/>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ARCHITECTURE</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The technology behind it</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800"/>
              </a:spcAft>
            </a:pPr>
            <a:r>
              <a:rPr sz="1300">
                <a:solidFill>
                  <a:srgbClr val="111B30"/>
                </a:solidFill>
                <a:latin typeface="Inter"/>
              </a:rPr>
              <a:t>The frontend is a Vite-built React 18 single-page application in TypeScript, styled with Tailwind, animated with Framer Motion, and charted with Recharts and D3. It talks to the backend over REST and Server-Sent Events.</a:t>
            </a:r>
          </a:p>
          <a:p>
            <a:pPr>
              <a:lnSpc>
                <a:spcPct val="132000"/>
              </a:lnSpc>
              <a:spcAft>
                <a:spcPts val="800"/>
              </a:spcAft>
            </a:pPr>
            <a:r>
              <a:rPr sz="1300">
                <a:solidFill>
                  <a:srgbClr val="111B30"/>
                </a:solidFill>
                <a:latin typeface="Inter"/>
              </a:rPr>
              <a:t>The backend is FastAPI on Python 3.12 with Uvicorn. It enforces Firebase Auth on every route, resolves the caller's organisation id, and dispatches to an agent that runs on Gemini 2.5 Flash using Google's function-calling API — the same agentic pattern as the Agent Development Kit (ADK) but implemented directly against Gemini for tighter control over streaming.</a:t>
            </a:r>
          </a:p>
          <a:p>
            <a:pPr>
              <a:lnSpc>
                <a:spcPct val="132000"/>
              </a:lnSpc>
              <a:spcAft>
                <a:spcPts val="800"/>
              </a:spcAft>
            </a:pPr>
            <a:r>
              <a:rPr sz="1300">
                <a:solidFill>
                  <a:srgbClr val="111B30"/>
                </a:solidFill>
                <a:latin typeface="Inter"/>
              </a:rPr>
              <a:t>Data lives in two places. Firestore holds users, organisations, watchlists, and the canonical copy of every saved report. Supabase Postgres with the pgvector extension holds 3072-dimensional embeddings of every report, enabling semantic search over an analyst's own history.</a:t>
            </a:r>
          </a:p>
          <a:p>
            <a:pPr>
              <a:lnSpc>
                <a:spcPct val="132000"/>
              </a:lnSpc>
              <a:spcAft>
                <a:spcPts val="800"/>
              </a:spcAft>
            </a:pPr>
            <a:r>
              <a:rPr sz="1300">
                <a:solidFill>
                  <a:srgbClr val="111B30"/>
                </a:solidFill>
                <a:latin typeface="Inter"/>
              </a:rPr>
              <a:t>Retrieval-augmented generation over SEC filings runs in-process with ChromaDB, using tiktoken's cl100k encoder to chunk filings at 600 tokens with 100 overlap before embedding with gemini-embedding-001.</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UNDER THE HOOD</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How the agent actually works</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800"/>
              </a:spcAft>
            </a:pPr>
            <a:r>
              <a:rPr sz="1250">
                <a:solidFill>
                  <a:srgbClr val="111B30"/>
                </a:solidFill>
                <a:latin typeface="Inter"/>
              </a:rPr>
              <a:t>Turn one — Gemini dispatch. The backend hands Gemini the user's query along with six function declarations: get_market_data, get_news_and_sentiment, query_sec_filings, get_social_trends, web_search (Google-grounded), and web_scrape. Gemini is asked which of these it wants to call to answer the question. This is not a hardcoded pipeline — a question about news alone does not trigger the filings tool.</a:t>
            </a:r>
          </a:p>
          <a:p>
            <a:pPr>
              <a:lnSpc>
                <a:spcPct val="132000"/>
              </a:lnSpc>
              <a:spcAft>
                <a:spcPts val="800"/>
              </a:spcAft>
            </a:pPr>
            <a:r>
              <a:rPr sz="1250">
                <a:solidFill>
                  <a:srgbClr val="111B30"/>
                </a:solidFill>
                <a:latin typeface="Inter"/>
              </a:rPr>
              <a:t>Turn two — local tool execution. The backend runs the selected tools. Market data goes through a three-provider cascade (Financial Modeling Prep → yfinance → Alpha Vantage). News aggregates NewsAPI and GNews with TextBlob sentiment classification. SEC filings run a cosine-similarity search in ChromaDB. Social pulls Reddit (PRAW) and Google Trends (pytrends). Web search uses Gemini's native google_search grounding. Each tool logs its duration so the presenter can show the timeline in the live demo.</a:t>
            </a:r>
          </a:p>
          <a:p>
            <a:pPr>
              <a:lnSpc>
                <a:spcPct val="132000"/>
              </a:lnSpc>
              <a:spcAft>
                <a:spcPts val="800"/>
              </a:spcAft>
            </a:pPr>
            <a:r>
              <a:rPr sz="1250">
                <a:solidFill>
                  <a:srgbClr val="111B30"/>
                </a:solidFill>
                <a:latin typeface="Inter"/>
              </a:rPr>
              <a:t>Turn three — synthesis. The raw tool outputs are fed back to Gemini with the instruction to emit a structured JSON report with six named sections (market, news, filings, social, synthesis, risks) plus a chat_context block for follow-up questions. Gemini returns the JSON; the backend walks the object and emits a Server-Sent-Event per section. The browser animates each section in as it lands.</a:t>
            </a:r>
          </a:p>
          <a:p>
            <a:pPr>
              <a:lnSpc>
                <a:spcPct val="132000"/>
              </a:lnSpc>
              <a:spcAft>
                <a:spcPts val="800"/>
              </a:spcAft>
            </a:pPr>
            <a:r>
              <a:rPr sz="1250">
                <a:solidFill>
                  <a:srgbClr val="111B30"/>
                </a:solidFill>
                <a:latin typeface="Inter"/>
              </a:rPr>
              <a:t>After the stream completes, the report is saved to Firestore. A background task embeds its query + summary + companies with gemini-embedding-001 and upserts into Supabase pgvector for future semantic search.</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FEATURE  ·  1</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Research — the core surface</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800"/>
              </a:spcAft>
            </a:pPr>
            <a:r>
              <a:rPr sz="1250">
                <a:solidFill>
                  <a:srgbClr val="111B30"/>
                </a:solidFill>
                <a:latin typeface="Inter"/>
              </a:rPr>
              <a:t>The research page accepts any natural-language query through a textarea with voice-input support via the Web Speech API and a ⌘/Ctrl+K keyboard shortcut. A lightweight frontend validator rejects queries under ten characters or missing a ticker or financial keyword, preventing nonsense hits on the agent.</a:t>
            </a:r>
          </a:p>
          <a:p>
            <a:pPr>
              <a:lnSpc>
                <a:spcPct val="132000"/>
              </a:lnSpc>
              <a:spcAft>
                <a:spcPts val="800"/>
              </a:spcAft>
            </a:pPr>
            <a:r>
              <a:rPr sz="1250">
                <a:solidFill>
                  <a:srgbClr val="111B30"/>
                </a:solidFill>
                <a:latin typeface="Inter"/>
              </a:rPr>
              <a:t>When the user submits, the frontend opens an SSE stream to POST /api/research/stream with their Firebase ID token. The agent-status panel on the left renders every event the backend emits: the dispatch step, each tool call with its duration, the synthesis step, and a complete event with the saved report id.</a:t>
            </a:r>
          </a:p>
          <a:p>
            <a:pPr>
              <a:lnSpc>
                <a:spcPct val="132000"/>
              </a:lnSpc>
              <a:spcAft>
                <a:spcPts val="800"/>
              </a:spcAft>
            </a:pPr>
            <a:r>
              <a:rPr sz="1250">
                <a:solidFill>
                  <a:srgbClr val="111B30"/>
                </a:solidFill>
                <a:latin typeface="Inter"/>
              </a:rPr>
              <a:t>On the right, the ReportStreamView component listens for section events and swaps in the matching structured component — MarketSection (company cards plus a 30-day Recharts area chart), NewsSection (article list with sentiment badges and a sentiment gauge SVG), FilingsSection (RAG passages with relevance scores), SocialSection (Google Trends line plus Reddit posts), SynthesisSection (Markdown with read-aloud), RisksSection (severity-colored grid).</a:t>
            </a:r>
          </a:p>
          <a:p>
            <a:pPr>
              <a:lnSpc>
                <a:spcPct val="132000"/>
              </a:lnSpc>
              <a:spcAft>
                <a:spcPts val="800"/>
              </a:spcAft>
            </a:pPr>
            <a:r>
              <a:rPr sz="1250">
                <a:solidFill>
                  <a:srgbClr val="111B30"/>
                </a:solidFill>
                <a:latin typeface="Inter"/>
              </a:rPr>
              <a:t>A chat panel appears automatically when the report finishes, grounded in the report's key metrics and findings. The user can ask "which is the better buy right now?" and the answer streams token-by-token while citing the same numbers they just saw.</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FEATURE  ·  2</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Chat follow-up — grounded conversation</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800"/>
              </a:spcAft>
            </a:pPr>
            <a:r>
              <a:rPr sz="1250">
                <a:solidFill>
                  <a:srgbClr val="111B30"/>
                </a:solidFill>
                <a:latin typeface="Inter"/>
              </a:rPr>
              <a:t>The chat panel uses a separate SSE endpoint, POST /api/chat/followup. The request body carries the user's question, the completed report as report_context, and the last ten messages of conversation history so Gemini can keep context across turns.</a:t>
            </a:r>
          </a:p>
          <a:p>
            <a:pPr>
              <a:lnSpc>
                <a:spcPct val="132000"/>
              </a:lnSpc>
              <a:spcAft>
                <a:spcPts val="800"/>
              </a:spcAft>
            </a:pPr>
            <a:r>
              <a:rPr sz="1250">
                <a:solidFill>
                  <a:srgbClr val="111B30"/>
                </a:solidFill>
                <a:latin typeface="Inter"/>
              </a:rPr>
              <a:t>The backend builds a system prompt that injects the report's company list, price and valuation metrics, synthesis summary, and key findings. The prompt tells Gemini it is a financial research assistant — not a generic chatbot — and instructs it to answer with specific numbers, not refuse with compliance disclaimers.</a:t>
            </a:r>
          </a:p>
          <a:p>
            <a:pPr>
              <a:lnSpc>
                <a:spcPct val="132000"/>
              </a:lnSpc>
              <a:spcAft>
                <a:spcPts val="800"/>
              </a:spcAft>
            </a:pPr>
            <a:r>
              <a:rPr sz="1250">
                <a:solidFill>
                  <a:srgbClr val="111B30"/>
                </a:solidFill>
                <a:latin typeface="Inter"/>
              </a:rPr>
              <a:t>Gemini's response streams back chunk-by-chunk via Server-Sent Events so the user sees a typewriter effect. Each assistant message is rendered with react-markdown (bold key terms, bulleted lists) and every message has a read-aloud button that pipes the text into the Web Speech API's SpeechSynthesisUtterance.</a:t>
            </a:r>
          </a:p>
          <a:p>
            <a:pPr>
              <a:lnSpc>
                <a:spcPct val="132000"/>
              </a:lnSpc>
              <a:spcAft>
                <a:spcPts val="800"/>
              </a:spcAft>
            </a:pPr>
            <a:r>
              <a:rPr sz="1250">
                <a:solidFill>
                  <a:srgbClr val="111B30"/>
                </a:solidFill>
                <a:latin typeface="Inter"/>
              </a:rPr>
              <a:t>The entire chat is ephemeral in the page — it lives only in React state. If the analyst reloads, they return to the report with a fresh greeting. This keeps the compliance footprint small and avoids paying Gemini tokens for conversations the user abandoned.</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FEATURE  ·  3</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Compare — two to four companies side by side</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800"/>
              </a:spcAft>
            </a:pPr>
            <a:r>
              <a:rPr sz="1250">
                <a:solidFill>
                  <a:srgbClr val="111B30"/>
                </a:solidFill>
                <a:latin typeface="Inter"/>
              </a:rPr>
              <a:t>The compare view runs market, news, and social tools in parallel for each selected company using asyncio.gather in a single request. This returns in roughly the same time as a single-company research call — the win is strictly analyst throughput, not compute cost.</a:t>
            </a:r>
          </a:p>
          <a:p>
            <a:pPr>
              <a:lnSpc>
                <a:spcPct val="132000"/>
              </a:lnSpc>
              <a:spcAft>
                <a:spcPts val="800"/>
              </a:spcAft>
            </a:pPr>
            <a:r>
              <a:rPr sz="1250">
                <a:solidFill>
                  <a:srgbClr val="111B30"/>
                </a:solidFill>
                <a:latin typeface="Inter"/>
              </a:rPr>
              <a:t>The backend then computes per-metric winners across eight normalised axes: revenue growth, gross margins, profit margins, P/E valuation, forward P/E, total revenue, market cap, and momentum (one-day change percent). News sentiment is bucketed into a winner by the highest 0-100 sentiment score.</a:t>
            </a:r>
          </a:p>
          <a:p>
            <a:pPr>
              <a:lnSpc>
                <a:spcPct val="132000"/>
              </a:lnSpc>
              <a:spcAft>
                <a:spcPts val="800"/>
              </a:spcAft>
            </a:pPr>
            <a:r>
              <a:rPr sz="1250">
                <a:solidFill>
                  <a:srgbClr val="111B30"/>
                </a:solidFill>
                <a:latin typeface="Inter"/>
              </a:rPr>
              <a:t>A final Gemini turn is asked to produce a structured comparison object: a 3-4 paragraph narrative, an investor-archetype match (growth buy, value buy, momentum buy, income buy, sentiment buy), and 3-5 key differentiators. If Gemini fails for any reason, a deterministic heuristic generates an equivalent object so the comparison always renders.</a:t>
            </a:r>
          </a:p>
          <a:p>
            <a:pPr>
              <a:lnSpc>
                <a:spcPct val="132000"/>
              </a:lnSpc>
              <a:spcAft>
                <a:spcPts val="800"/>
              </a:spcAft>
            </a:pPr>
            <a:r>
              <a:rPr sz="1250">
                <a:solidFill>
                  <a:srgbClr val="111B30"/>
                </a:solidFill>
                <a:latin typeface="Inter"/>
              </a:rPr>
              <a:t>The UI renders a 6-axis radar chart (Recharts PolarGrid), a sortable metrics table with CSV export, a news-sentiment bar chart, and the AI synthesis — all fed by the same SSE stream that streams sections one at a time.</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FEATURE  ·  4</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Reports archive — semantic memory</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800"/>
              </a:spcAft>
            </a:pPr>
            <a:r>
              <a:rPr sz="1250">
                <a:solidFill>
                  <a:srgbClr val="111B30"/>
                </a:solidFill>
                <a:latin typeface="Inter"/>
              </a:rPr>
              <a:t>Every completed report is written to Firestore under /orgs/{orgId}/reports/{reportId} as the canonical source of truth. In parallel — fire-and-forget so the user never waits — a background task embeds the report's query, summary, and company list with Gemini's gemini-embedding-001 model (3072-dimensional output vectors) and upserts into a Supabase Postgres table.</a:t>
            </a:r>
          </a:p>
          <a:p>
            <a:pPr>
              <a:lnSpc>
                <a:spcPct val="132000"/>
              </a:lnSpc>
              <a:spcAft>
                <a:spcPts val="800"/>
              </a:spcAft>
            </a:pPr>
            <a:r>
              <a:rPr sz="1250">
                <a:solidFill>
                  <a:srgbClr val="111B30"/>
                </a:solidFill>
                <a:latin typeface="Inter"/>
              </a:rPr>
              <a:t>The table is protected by the pgvector extension and has a custom match_reports RPC that performs cosine-similarity search scoped to the caller's organisation. Row-level security ensures an org can only ever see its own rows, even if the anon key is leaked.</a:t>
            </a:r>
          </a:p>
          <a:p>
            <a:pPr>
              <a:lnSpc>
                <a:spcPct val="132000"/>
              </a:lnSpc>
              <a:spcAft>
                <a:spcPts val="800"/>
              </a:spcAft>
            </a:pPr>
            <a:r>
              <a:rPr sz="1250">
                <a:solidFill>
                  <a:srgbClr val="111B30"/>
                </a:solidFill>
                <a:latin typeface="Inter"/>
              </a:rPr>
              <a:t>In the UI, the analyst searches by meaning. Typing "GPU competitors" returns an NVIDIA-vs-AMD report even if those exact words do not appear in its title. Typing "2026 outlook" surfaces reports about forecasts across multiple companies. The analyst can tag reports ("Q3 earnings", "competitor analysis"), filter by tag, sort by recency or duration, and open any report back into the full structured view plus its chat panel.</a:t>
            </a:r>
          </a:p>
          <a:p>
            <a:pPr>
              <a:lnSpc>
                <a:spcPct val="132000"/>
              </a:lnSpc>
              <a:spcAft>
                <a:spcPts val="800"/>
              </a:spcAft>
            </a:pPr>
            <a:r>
              <a:rPr sz="1250">
                <a:solidFill>
                  <a:srgbClr val="111B30"/>
                </a:solidFill>
                <a:latin typeface="Inter"/>
              </a:rPr>
              <a:t>Reports are permanent — they live in Firestore under the organisation's path — but can be deleted. Deletion cleans both Firestore and the corresponding Supabase row.</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FEATURE  ·  5 + 6</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Dashboard and watchlist</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800"/>
              </a:spcAft>
            </a:pPr>
            <a:r>
              <a:rPr sz="1250">
                <a:solidFill>
                  <a:srgbClr val="111B30"/>
                </a:solidFill>
                <a:latin typeface="Inter"/>
              </a:rPr>
              <a:t>The dashboard is the analyst's morning brief. It renders an eleven-sector SPDR ETF heatmap (XLK, XLF, XLV, XLE, XLI, XLY, XLP, XLU, XLB, XLRE, XLC) driven by Financial Modeling Prep's /stable/sector-performance-snapshot endpoint. Below the heatmap sit the day's top-five gainers and losers pulled from /stable/biggest-gainers and /stable/biggest-losers, and the user's personal watchlist with seven-day sparklines.</a:t>
            </a:r>
          </a:p>
          <a:p>
            <a:pPr>
              <a:lnSpc>
                <a:spcPct val="132000"/>
              </a:lnSpc>
              <a:spcAft>
                <a:spcPts val="800"/>
              </a:spcAft>
            </a:pPr>
            <a:r>
              <a:rPr sz="1250">
                <a:solidFill>
                  <a:srgbClr val="111B30"/>
                </a:solidFill>
                <a:latin typeface="Inter"/>
              </a:rPr>
              <a:t>Every tile flows through the same backend cache layer — a tiny TTL dict with five-minute quotes, fifteen-minute sector heatmap, ten-minute movers, and negative-caching on failure so rate-limited upstreams don't thrash. The first analyst in the organisation to land on the dashboard warms the cache for everyone else.</a:t>
            </a:r>
          </a:p>
          <a:p>
            <a:pPr>
              <a:lnSpc>
                <a:spcPct val="132000"/>
              </a:lnSpc>
              <a:spcAft>
                <a:spcPts val="800"/>
              </a:spcAft>
            </a:pPr>
            <a:r>
              <a:rPr sz="1250">
                <a:solidFill>
                  <a:srgbClr val="111B30"/>
                </a:solidFill>
                <a:latin typeface="Inter"/>
              </a:rPr>
              <a:t>The watchlist is a drag-to-reorder list of tickers backed by a Firestore sub-collection under the user's organisation. Adding a ticker validates it through the FMP → yfinance → known-symbols cascade used elsewhere, so a Yahoo rate-limit cannot block a legitimate symbol like AAPL. Each row shows a live price, seven-day close sparkline, change-percent chip, and a cached sentiment badge.</a:t>
            </a:r>
          </a:p>
          <a:p>
            <a:pPr>
              <a:lnSpc>
                <a:spcPct val="132000"/>
              </a:lnSpc>
              <a:spcAft>
                <a:spcPts val="800"/>
              </a:spcAft>
            </a:pPr>
            <a:r>
              <a:rPr sz="1250">
                <a:solidFill>
                  <a:srgbClr val="111B30"/>
                </a:solidFill>
                <a:latin typeface="Inter"/>
              </a:rPr>
              <a:t>Both surfaces render in roughly 300ms after cache warm-up, with React Query handling background refetching so the UI always reflects sub-5-minute-old data.</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OUTCOMES</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Business impact</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80847" y="1691640"/>
            <a:ext cx="3657600" cy="4480560"/>
          </a:xfrm>
          <a:prstGeom prst="roundRect">
            <a:avLst>
              <a:gd name="adj" fmla="val 6000"/>
            </a:avLst>
          </a:prstGeom>
          <a:solidFill>
            <a:srgbClr val="FFFFFF"/>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447" y="1874519"/>
            <a:ext cx="3200400" cy="731520"/>
          </a:xfrm>
          <a:prstGeom prst="rect">
            <a:avLst/>
          </a:prstGeom>
          <a:noFill/>
        </p:spPr>
        <p:txBody>
          <a:bodyPr wrap="square" lIns="0" rIns="0" tIns="0" bIns="0">
            <a:spAutoFit/>
          </a:bodyPr>
          <a:lstStyle/>
          <a:p>
            <a:pPr algn="l">
              <a:lnSpc>
                <a:spcPct val="115000"/>
              </a:lnSpc>
            </a:pPr>
            <a:r>
              <a:rPr sz="1600" b="1" i="0">
                <a:solidFill>
                  <a:srgbClr val="2D5BD8"/>
                </a:solidFill>
                <a:latin typeface="Inter"/>
              </a:rPr>
              <a:t>For the sell-side analyst</a:t>
            </a:r>
          </a:p>
        </p:txBody>
      </p:sp>
      <p:sp>
        <p:nvSpPr>
          <p:cNvPr id="7" name="TextBox 6"/>
          <p:cNvSpPr txBox="1"/>
          <p:nvPr/>
        </p:nvSpPr>
        <p:spPr>
          <a:xfrm>
            <a:off x="609447" y="2697480"/>
            <a:ext cx="3200400" cy="3474720"/>
          </a:xfrm>
          <a:prstGeom prst="rect">
            <a:avLst/>
          </a:prstGeom>
          <a:noFill/>
        </p:spPr>
        <p:txBody>
          <a:bodyPr wrap="square" lIns="0" rIns="0" tIns="0" bIns="0">
            <a:spAutoFit/>
          </a:bodyPr>
          <a:lstStyle/>
          <a:p>
            <a:pPr algn="l">
              <a:lnSpc>
                <a:spcPct val="135000"/>
              </a:lnSpc>
            </a:pPr>
            <a:r>
              <a:rPr sz="1200" b="0" i="0">
                <a:solidFill>
                  <a:srgbClr val="111B30"/>
                </a:solidFill>
                <a:latin typeface="Inter"/>
              </a:rPr>
              <a:t>A two-to-five day report cycle collapses into thirty to sixty seconds for a first draft. A team that used to ship ten to fifteen reports per month can ship over one hundred at the same headcount without losing citation discipline. Every claim in every section is grounded in a source URL.</a:t>
            </a:r>
          </a:p>
        </p:txBody>
      </p:sp>
      <p:sp>
        <p:nvSpPr>
          <p:cNvPr id="8" name="Rounded Rectangle 7"/>
          <p:cNvSpPr/>
          <p:nvPr/>
        </p:nvSpPr>
        <p:spPr>
          <a:xfrm>
            <a:off x="4267047" y="1691640"/>
            <a:ext cx="3657600" cy="4480560"/>
          </a:xfrm>
          <a:prstGeom prst="roundRect">
            <a:avLst>
              <a:gd name="adj" fmla="val 6000"/>
            </a:avLst>
          </a:prstGeom>
          <a:solidFill>
            <a:srgbClr val="FFFFFF"/>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5647" y="1874519"/>
            <a:ext cx="3200400" cy="731520"/>
          </a:xfrm>
          <a:prstGeom prst="rect">
            <a:avLst/>
          </a:prstGeom>
          <a:noFill/>
        </p:spPr>
        <p:txBody>
          <a:bodyPr wrap="square" lIns="0" rIns="0" tIns="0" bIns="0">
            <a:spAutoFit/>
          </a:bodyPr>
          <a:lstStyle/>
          <a:p>
            <a:pPr algn="l">
              <a:lnSpc>
                <a:spcPct val="115000"/>
              </a:lnSpc>
            </a:pPr>
            <a:r>
              <a:rPr sz="1600" b="1" i="0">
                <a:solidFill>
                  <a:srgbClr val="2D5BD8"/>
                </a:solidFill>
                <a:latin typeface="Inter"/>
              </a:rPr>
              <a:t>For the firm</a:t>
            </a:r>
          </a:p>
        </p:txBody>
      </p:sp>
      <p:sp>
        <p:nvSpPr>
          <p:cNvPr id="10" name="TextBox 9"/>
          <p:cNvSpPr txBox="1"/>
          <p:nvPr/>
        </p:nvSpPr>
        <p:spPr>
          <a:xfrm>
            <a:off x="4495647" y="2697480"/>
            <a:ext cx="3200400" cy="3474720"/>
          </a:xfrm>
          <a:prstGeom prst="rect">
            <a:avLst/>
          </a:prstGeom>
          <a:noFill/>
        </p:spPr>
        <p:txBody>
          <a:bodyPr wrap="square" lIns="0" rIns="0" tIns="0" bIns="0">
            <a:spAutoFit/>
          </a:bodyPr>
          <a:lstStyle/>
          <a:p>
            <a:pPr algn="l">
              <a:lnSpc>
                <a:spcPct val="135000"/>
              </a:lnSpc>
            </a:pPr>
            <a:r>
              <a:rPr sz="1200" b="0" i="0">
                <a:solidFill>
                  <a:srgbClr val="111B30"/>
                </a:solidFill>
                <a:latin typeface="Inter"/>
              </a:rPr>
              <a:t>The same research team expands coverage five to eight times. A unified app replaces a meaningful share of what used to require a Bloomberg seat — live prices, news, filings, sentiment — so seat attrition becomes a real cost lever. Every report keeps a tools_used audit trail for compliance.</a:t>
            </a:r>
          </a:p>
        </p:txBody>
      </p:sp>
      <p:sp>
        <p:nvSpPr>
          <p:cNvPr id="11" name="Rounded Rectangle 10"/>
          <p:cNvSpPr/>
          <p:nvPr/>
        </p:nvSpPr>
        <p:spPr>
          <a:xfrm>
            <a:off x="8153247" y="1691640"/>
            <a:ext cx="3657600" cy="4480560"/>
          </a:xfrm>
          <a:prstGeom prst="roundRect">
            <a:avLst>
              <a:gd name="adj" fmla="val 6000"/>
            </a:avLst>
          </a:prstGeom>
          <a:solidFill>
            <a:srgbClr val="FFFFFF"/>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81847" y="1874519"/>
            <a:ext cx="3200400" cy="731520"/>
          </a:xfrm>
          <a:prstGeom prst="rect">
            <a:avLst/>
          </a:prstGeom>
          <a:noFill/>
        </p:spPr>
        <p:txBody>
          <a:bodyPr wrap="square" lIns="0" rIns="0" tIns="0" bIns="0">
            <a:spAutoFit/>
          </a:bodyPr>
          <a:lstStyle/>
          <a:p>
            <a:pPr algn="l">
              <a:lnSpc>
                <a:spcPct val="115000"/>
              </a:lnSpc>
            </a:pPr>
            <a:r>
              <a:rPr sz="1600" b="1" i="0">
                <a:solidFill>
                  <a:srgbClr val="2D5BD8"/>
                </a:solidFill>
                <a:latin typeface="Inter"/>
              </a:rPr>
              <a:t>For the priced-out user</a:t>
            </a:r>
          </a:p>
        </p:txBody>
      </p:sp>
      <p:sp>
        <p:nvSpPr>
          <p:cNvPr id="13" name="TextBox 12"/>
          <p:cNvSpPr txBox="1"/>
          <p:nvPr/>
        </p:nvSpPr>
        <p:spPr>
          <a:xfrm>
            <a:off x="8381847" y="2697480"/>
            <a:ext cx="3200400" cy="3474720"/>
          </a:xfrm>
          <a:prstGeom prst="rect">
            <a:avLst/>
          </a:prstGeom>
          <a:noFill/>
        </p:spPr>
        <p:txBody>
          <a:bodyPr wrap="square" lIns="0" rIns="0" tIns="0" bIns="0">
            <a:spAutoFit/>
          </a:bodyPr>
          <a:lstStyle/>
          <a:p>
            <a:pPr algn="l">
              <a:lnSpc>
                <a:spcPct val="135000"/>
              </a:lnSpc>
            </a:pPr>
            <a:r>
              <a:rPr sz="1200" b="0" i="0">
                <a:solidFill>
                  <a:srgbClr val="111B30"/>
                </a:solidFill>
                <a:latin typeface="Inter"/>
              </a:rPr>
              <a:t>Zero dollars per month on the free tier. Runs in any modern browser, including mobile. No Bloomberg licence, no Refinitiv subscription, no analyst headcount — just type a question and read a sourced answer. Compound interest on decisions that were previously out of reach.</a:t>
            </a:r>
          </a:p>
        </p:txBody>
      </p:sp>
      <p:sp>
        <p:nvSpPr>
          <p:cNvPr id="14" name="TextBox 13"/>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15" name="TextBox 14"/>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16" name="TextBox 15"/>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ECONOMICS</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Cost model — honest and auditable</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1000"/>
              </a:spcAft>
            </a:pPr>
            <a:r>
              <a:rPr sz="1300">
                <a:solidFill>
                  <a:srgbClr val="111B30"/>
                </a:solidFill>
                <a:latin typeface="Inter"/>
              </a:rPr>
              <a:t>The marginal cost of running one thousand research queries on Klypup sits at roughly sixty-five cents. Almost all of it is Gemini 2.5 Flash tokens — the dispatcher turn plus the synthesis turn, averaging 30,000 input tokens and 4,000 output tokens per query at published rates.</a:t>
            </a:r>
          </a:p>
          <a:p>
            <a:pPr>
              <a:lnSpc>
                <a:spcPct val="132000"/>
              </a:lnSpc>
              <a:spcAft>
                <a:spcPts val="1000"/>
              </a:spcAft>
            </a:pPr>
            <a:r>
              <a:rPr sz="1300">
                <a:solidFill>
                  <a:srgbClr val="111B30"/>
                </a:solidFill>
                <a:latin typeface="Inter"/>
              </a:rPr>
              <a:t>Financial Modeling Prep, NewsAPI, and GNews all provide sufficient free-tier coverage for demo workloads. Firestore and Firebase Auth reads and writes are within the free plan. Supabase pgvector with our data volume is free. Render hosts the backend for free with 750 hours per month.</a:t>
            </a:r>
          </a:p>
          <a:p>
            <a:pPr>
              <a:lnSpc>
                <a:spcPct val="132000"/>
              </a:lnSpc>
              <a:spcAft>
                <a:spcPts val="1000"/>
              </a:spcAft>
            </a:pPr>
            <a:r>
              <a:rPr sz="1300">
                <a:solidFill>
                  <a:srgbClr val="111B30"/>
                </a:solidFill>
                <a:latin typeface="Inter"/>
              </a:rPr>
              <a:t>A single Bloomberg Terminal seat is $31,980 per year. A Klypup power user running one hundred queries a day for a full year incurs roughly $23.70 in marginal infrastructure cost — the Terminal is approximately 1,000 times more expensive per user per year.</a:t>
            </a:r>
          </a:p>
          <a:p>
            <a:pPr>
              <a:lnSpc>
                <a:spcPct val="132000"/>
              </a:lnSpc>
              <a:spcAft>
                <a:spcPts val="1000"/>
              </a:spcAft>
            </a:pPr>
            <a:r>
              <a:rPr sz="1300">
                <a:solidFill>
                  <a:srgbClr val="111B30"/>
                </a:solidFill>
                <a:latin typeface="Inter"/>
              </a:rPr>
              <a:t>Scaling into a paid tier is still cheap. A $99-per-month Team plan at 80% gross margin supports a 25-analyst buy-side fund — one-fifteenth the cost of replacing their existing seat licences.</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TECH ROBUSTNESS</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Why it stays reliable</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800"/>
              </a:spcAft>
            </a:pPr>
            <a:r>
              <a:rPr sz="1250">
                <a:solidFill>
                  <a:srgbClr val="111B30"/>
                </a:solidFill>
                <a:latin typeface="Inter"/>
              </a:rPr>
              <a:t>No single upstream provider can kill a research run. Prices cascade through FMP → yfinance → Alpha Vantage. News aggregates NewsAPI plus GNews. Web context uses Gemini's google_search grounding, and if Gemini itself fails, a deterministic heuristic orchestrator still emits a structured report from whatever tool data came back.</a:t>
            </a:r>
          </a:p>
          <a:p>
            <a:pPr>
              <a:lnSpc>
                <a:spcPct val="132000"/>
              </a:lnSpc>
              <a:spcAft>
                <a:spcPts val="800"/>
              </a:spcAft>
            </a:pPr>
            <a:r>
              <a:rPr sz="1250">
                <a:solidFill>
                  <a:srgbClr val="111B30"/>
                </a:solidFill>
                <a:latin typeface="Inter"/>
              </a:rPr>
              <a:t>Multi-tenant isolation is defended at three independent layers: Firestore path-based security rules scoped to request.auth.uid, a backend CurrentOrgUser middleware that refuses requests without a resolved org, and Supabase row-level security on the semantic-search table. Any one of the three can fail and the other two still prevent a data leak.</a:t>
            </a:r>
          </a:p>
          <a:p>
            <a:pPr>
              <a:lnSpc>
                <a:spcPct val="132000"/>
              </a:lnSpc>
              <a:spcAft>
                <a:spcPts val="800"/>
              </a:spcAft>
            </a:pPr>
            <a:r>
              <a:rPr sz="1250">
                <a:solidFill>
                  <a:srgbClr val="111B30"/>
                </a:solidFill>
                <a:latin typeface="Inter"/>
              </a:rPr>
              <a:t>The user always sees progress, not a black box. Server-Sent Events push each tool start, tool completion, and section into the browser as soon as they land. A safety net in the React hook recovers even if an event is dropped mid-stream — it refetches the latest saved report so the UI never hangs.</a:t>
            </a:r>
          </a:p>
          <a:p>
            <a:pPr>
              <a:lnSpc>
                <a:spcPct val="132000"/>
              </a:lnSpc>
              <a:spcAft>
                <a:spcPts val="800"/>
              </a:spcAft>
            </a:pPr>
            <a:r>
              <a:rPr sz="1250">
                <a:solidFill>
                  <a:srgbClr val="111B30"/>
                </a:solidFill>
                <a:latin typeface="Inter"/>
              </a:rPr>
              <a:t>Missing API keys disable only the affected tool; Gemini errors fall back to the heuristic path; Yahoo rate-limit noise is suppressed at the stderr level so the production logs stay readable.</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TRUST</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Security posture</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800"/>
              </a:spcAft>
            </a:pPr>
            <a:r>
              <a:rPr sz="1250">
                <a:solidFill>
                  <a:srgbClr val="111B30"/>
                </a:solidFill>
                <a:latin typeface="Inter"/>
              </a:rPr>
              <a:t>Authentication is handled by Firebase Auth — Google SSO plus email/password. Every backend route is wrapped in a dependency that verifies the ID token, looks up the user's default organisation, and injects the typed org id. No route ever reads an org id from the request body, which closes the simplest multi-tenant exfiltration vector.</a:t>
            </a:r>
          </a:p>
          <a:p>
            <a:pPr>
              <a:lnSpc>
                <a:spcPct val="132000"/>
              </a:lnSpc>
              <a:spcAft>
                <a:spcPts val="800"/>
              </a:spcAft>
            </a:pPr>
            <a:r>
              <a:rPr sz="1250">
                <a:solidFill>
                  <a:srgbClr val="111B30"/>
                </a:solidFill>
                <a:latin typeface="Inter"/>
              </a:rPr>
              <a:t>Secrets are never checked in. The .env files are gitignored at the repo root, a pre-commit scan searches the staged diff for API-key-shaped strings before every commit, and production secrets live in the cloud provider's secret store — Render environment variables, never the container image.</a:t>
            </a:r>
          </a:p>
          <a:p>
            <a:pPr>
              <a:lnSpc>
                <a:spcPct val="132000"/>
              </a:lnSpc>
              <a:spcAft>
                <a:spcPts val="800"/>
              </a:spcAft>
            </a:pPr>
            <a:r>
              <a:rPr sz="1250">
                <a:solidFill>
                  <a:srgbClr val="111B30"/>
                </a:solidFill>
                <a:latin typeface="Inter"/>
              </a:rPr>
              <a:t>Data is encrypted at rest on Firestore and Supabase (both platform defaults) and transits over TLS end-to-end. The Supabase anon key shipped in the frontend is row-level-security locked — an attacker who steals it still sees zero rows. The service-role key exists only in the backend's memory.</a:t>
            </a:r>
          </a:p>
          <a:p>
            <a:pPr>
              <a:lnSpc>
                <a:spcPct val="132000"/>
              </a:lnSpc>
              <a:spcAft>
                <a:spcPts val="800"/>
              </a:spcAft>
            </a:pPr>
            <a:r>
              <a:rPr sz="1250">
                <a:solidFill>
                  <a:srgbClr val="111B30"/>
                </a:solidFill>
                <a:latin typeface="Inter"/>
              </a:rPr>
              <a:t>Every report records tools_used and duration_ms, giving compliance officers an audit trail from any answer back to the specific data calls that produced it.</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457200" y="320040"/>
            <a:ext cx="11247120" cy="274320"/>
          </a:xfrm>
          <a:prstGeom prst="rect">
            <a:avLst/>
          </a:prstGeom>
          <a:noFill/>
        </p:spPr>
        <p:txBody>
          <a:bodyPr wrap="square" lIns="0" rIns="0" tIns="0" bIns="0">
            <a:spAutoFit/>
          </a:bodyPr>
          <a:lstStyle/>
          <a:p>
            <a:pPr algn="l">
              <a:lnSpc>
                <a:spcPct val="125000"/>
              </a:lnSpc>
            </a:pPr>
            <a:r>
              <a:rPr sz="1000" b="1" i="0">
                <a:solidFill>
                  <a:srgbClr val="2D5BD8"/>
                </a:solidFill>
                <a:latin typeface="Inter"/>
              </a:rPr>
              <a:t>WHERE THIS GOES</a:t>
            </a:r>
          </a:p>
        </p:txBody>
      </p:sp>
      <p:sp>
        <p:nvSpPr>
          <p:cNvPr id="3" name="TextBox 2"/>
          <p:cNvSpPr txBox="1"/>
          <p:nvPr/>
        </p:nvSpPr>
        <p:spPr>
          <a:xfrm>
            <a:off x="457200" y="594360"/>
            <a:ext cx="11247120" cy="731520"/>
          </a:xfrm>
          <a:prstGeom prst="rect">
            <a:avLst/>
          </a:prstGeom>
          <a:noFill/>
        </p:spPr>
        <p:txBody>
          <a:bodyPr wrap="square" lIns="0" rIns="0" tIns="0" bIns="0">
            <a:spAutoFit/>
          </a:bodyPr>
          <a:lstStyle/>
          <a:p>
            <a:pPr algn="l">
              <a:lnSpc>
                <a:spcPct val="125000"/>
              </a:lnSpc>
            </a:pPr>
            <a:r>
              <a:rPr sz="3000" b="1" i="0">
                <a:solidFill>
                  <a:srgbClr val="111B30"/>
                </a:solidFill>
                <a:latin typeface="Inter"/>
              </a:rPr>
              <a:t>Roadmap — next 90 days</a:t>
            </a:r>
          </a:p>
        </p:txBody>
      </p:sp>
      <p:cxnSp>
        <p:nvCxnSpPr>
          <p:cNvPr id="4" name="Connector 3"/>
          <p:cNvCxnSpPr/>
          <p:nvPr/>
        </p:nvCxnSpPr>
        <p:spPr>
          <a:xfrm>
            <a:off x="457200" y="1325880"/>
            <a:ext cx="11247120" cy="0"/>
          </a:xfrm>
          <a:prstGeom prst="line">
            <a:avLst/>
          </a:prstGeom>
          <a:ln w="15240">
            <a:solidFill>
              <a:srgbClr val="D9DEE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31520" y="1691640"/>
            <a:ext cx="10698480" cy="4572000"/>
          </a:xfrm>
          <a:prstGeom prst="rect">
            <a:avLst/>
          </a:prstGeom>
          <a:noFill/>
        </p:spPr>
        <p:txBody>
          <a:bodyPr wrap="square" lIns="0" rIns="0" tIns="0" bIns="0">
            <a:spAutoFit/>
          </a:bodyPr>
          <a:lstStyle/>
          <a:p>
            <a:pPr>
              <a:lnSpc>
                <a:spcPct val="132000"/>
              </a:lnSpc>
              <a:spcAft>
                <a:spcPts val="800"/>
              </a:spcAft>
            </a:pPr>
            <a:r>
              <a:rPr sz="1250">
                <a:solidFill>
                  <a:srgbClr val="111B30"/>
                </a:solidFill>
                <a:latin typeface="Inter"/>
              </a:rPr>
              <a:t>Live earnings-call transcripts ingested into the RAG corpus alongside 10-Ks and 10-Qs, so questions about forward guidance can be answered against the most recent management commentary rather than the last annual report.</a:t>
            </a:r>
          </a:p>
          <a:p>
            <a:pPr>
              <a:lnSpc>
                <a:spcPct val="132000"/>
              </a:lnSpc>
              <a:spcAft>
                <a:spcPts val="800"/>
              </a:spcAft>
            </a:pPr>
            <a:r>
              <a:rPr sz="1250">
                <a:solidFill>
                  <a:srgbClr val="111B30"/>
                </a:solidFill>
                <a:latin typeface="Inter"/>
              </a:rPr>
              <a:t>Agent memory across queries. A user can say "compare this to Tuesday's run" and the agent will hydrate the prior report, diff the numbers, and synthesise a change narrative without forcing the user to manually open both reports.</a:t>
            </a:r>
          </a:p>
          <a:p>
            <a:pPr>
              <a:lnSpc>
                <a:spcPct val="132000"/>
              </a:lnSpc>
              <a:spcAft>
                <a:spcPts val="800"/>
              </a:spcAft>
            </a:pPr>
            <a:r>
              <a:rPr sz="1250">
                <a:solidFill>
                  <a:srgbClr val="111B30"/>
                </a:solidFill>
                <a:latin typeface="Inter"/>
              </a:rPr>
              <a:t>Scheduled research runs — a user marks a coverage list and every Monday morning at 8am the agent re-runs each report, diffs against last week, and delivers the output via Slack or email so the analyst wakes up to a pre-populated workspace.</a:t>
            </a:r>
          </a:p>
          <a:p>
            <a:pPr>
              <a:lnSpc>
                <a:spcPct val="132000"/>
              </a:lnSpc>
              <a:spcAft>
                <a:spcPts val="800"/>
              </a:spcAft>
            </a:pPr>
            <a:r>
              <a:rPr sz="1250">
                <a:solidFill>
                  <a:srgbClr val="111B30"/>
                </a:solidFill>
                <a:latin typeface="Inter"/>
              </a:rPr>
              <a:t>Model routing. Simple quote lookups and rephrasing go through Haiku-class models for one-tenth the cost; deep synthesis sticks with Gemini 2.5 Flash or upgrades to Pro for complex multi-company comparisons. A per-query cost log feeds admin analytics.</a:t>
            </a:r>
          </a:p>
          <a:p>
            <a:pPr>
              <a:lnSpc>
                <a:spcPct val="132000"/>
              </a:lnSpc>
              <a:spcAft>
                <a:spcPts val="800"/>
              </a:spcAft>
            </a:pPr>
            <a:r>
              <a:rPr sz="1250">
                <a:solidFill>
                  <a:srgbClr val="111B30"/>
                </a:solidFill>
                <a:latin typeface="Inter"/>
              </a:rPr>
              <a:t>Admin analytics for firms — a dashboard of token spend per analyst, coverage heatmap by sector, and query volume trends so research directors can see where the team's attention is actually going.</a:t>
            </a:r>
          </a:p>
        </p:txBody>
      </p:sp>
      <p:sp>
        <p:nvSpPr>
          <p:cNvPr id="6" name="TextBox 5"/>
          <p:cNvSpPr txBox="1"/>
          <p:nvPr/>
        </p:nvSpPr>
        <p:spPr>
          <a:xfrm>
            <a:off x="365760" y="6446520"/>
            <a:ext cx="4572000" cy="228600"/>
          </a:xfrm>
          <a:prstGeom prst="rect">
            <a:avLst/>
          </a:prstGeom>
          <a:noFill/>
        </p:spPr>
        <p:txBody>
          <a:bodyPr wrap="square" lIns="0" rIns="0" tIns="0" bIns="0">
            <a:spAutoFit/>
          </a:bodyPr>
          <a:lstStyle/>
          <a:p>
            <a:pPr algn="l">
              <a:lnSpc>
                <a:spcPct val="125000"/>
              </a:lnSpc>
            </a:pPr>
            <a:r>
              <a:rPr sz="900" b="0" i="0">
                <a:solidFill>
                  <a:srgbClr val="4A556A"/>
                </a:solidFill>
                <a:latin typeface="Inter"/>
              </a:rPr>
              <a:t>Klypup — Investment Research Intelligence</a:t>
            </a:r>
          </a:p>
        </p:txBody>
      </p:sp>
      <p:sp>
        <p:nvSpPr>
          <p:cNvPr id="7" name="TextBox 6"/>
          <p:cNvSpPr txBox="1"/>
          <p:nvPr/>
        </p:nvSpPr>
        <p:spPr>
          <a:xfrm>
            <a:off x="4754880" y="6446520"/>
            <a:ext cx="3657600" cy="228600"/>
          </a:xfrm>
          <a:prstGeom prst="rect">
            <a:avLst/>
          </a:prstGeom>
          <a:noFill/>
        </p:spPr>
        <p:txBody>
          <a:bodyPr wrap="square" lIns="0" rIns="0" tIns="0" bIns="0">
            <a:spAutoFit/>
          </a:bodyPr>
          <a:lstStyle/>
          <a:p>
            <a:pPr algn="r">
              <a:lnSpc>
                <a:spcPct val="125000"/>
              </a:lnSpc>
            </a:pPr>
            <a:r>
              <a:rPr sz="900" b="0" i="0">
                <a:solidFill>
                  <a:srgbClr val="2D5BD8"/>
                </a:solidFill>
                <a:latin typeface="Inter"/>
              </a:rPr>
              <a:t>https://youtu.be/7bVMFYfFz_A</a:t>
            </a:r>
          </a:p>
        </p:txBody>
      </p:sp>
      <p:sp>
        <p:nvSpPr>
          <p:cNvPr id="8" name="TextBox 7"/>
          <p:cNvSpPr txBox="1"/>
          <p:nvPr/>
        </p:nvSpPr>
        <p:spPr>
          <a:xfrm>
            <a:off x="8229600" y="6446520"/>
            <a:ext cx="731520" cy="228600"/>
          </a:xfrm>
          <a:prstGeom prst="rect">
            <a:avLst/>
          </a:prstGeom>
          <a:noFill/>
        </p:spPr>
        <p:txBody>
          <a:bodyPr wrap="square" lIns="0" rIns="0" tIns="0" bIns="0">
            <a:spAutoFit/>
          </a:bodyPr>
          <a:lstStyle/>
          <a:p>
            <a:pPr algn="r">
              <a:lnSpc>
                <a:spcPct val="125000"/>
              </a:lnSpc>
            </a:pPr>
            <a:r>
              <a:rPr sz="900" b="0" i="0">
                <a:solidFill>
                  <a:srgbClr val="4A556A"/>
                </a:solidFill>
                <a:latin typeface="Inter"/>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31520" y="1645920"/>
            <a:ext cx="10789920" cy="1097280"/>
          </a:xfrm>
          <a:prstGeom prst="rect">
            <a:avLst/>
          </a:prstGeom>
          <a:noFill/>
        </p:spPr>
        <p:txBody>
          <a:bodyPr wrap="square" lIns="0" rIns="0" tIns="0" bIns="0">
            <a:spAutoFit/>
          </a:bodyPr>
          <a:lstStyle/>
          <a:p>
            <a:pPr algn="l">
              <a:lnSpc>
                <a:spcPct val="125000"/>
              </a:lnSpc>
            </a:pPr>
            <a:r>
              <a:rPr sz="6000" b="1" i="0">
                <a:solidFill>
                  <a:srgbClr val="111B30"/>
                </a:solidFill>
                <a:latin typeface="Inter"/>
              </a:rPr>
              <a:t>Thank you</a:t>
            </a:r>
          </a:p>
        </p:txBody>
      </p:sp>
      <p:cxnSp>
        <p:nvCxnSpPr>
          <p:cNvPr id="3" name="Connector 2"/>
          <p:cNvCxnSpPr/>
          <p:nvPr/>
        </p:nvCxnSpPr>
        <p:spPr>
          <a:xfrm>
            <a:off x="731520" y="2834640"/>
            <a:ext cx="2743200" cy="0"/>
          </a:xfrm>
          <a:prstGeom prst="line">
            <a:avLst/>
          </a:prstGeom>
          <a:ln w="38100">
            <a:solidFill>
              <a:srgbClr val="2D5BD8"/>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31520" y="3017520"/>
            <a:ext cx="10789920" cy="548640"/>
          </a:xfrm>
          <a:prstGeom prst="rect">
            <a:avLst/>
          </a:prstGeom>
          <a:noFill/>
        </p:spPr>
        <p:txBody>
          <a:bodyPr wrap="square" lIns="0" rIns="0" tIns="0" bIns="0">
            <a:spAutoFit/>
          </a:bodyPr>
          <a:lstStyle/>
          <a:p>
            <a:pPr algn="l">
              <a:lnSpc>
                <a:spcPct val="125000"/>
              </a:lnSpc>
            </a:pPr>
            <a:r>
              <a:rPr sz="2200" b="0" i="0">
                <a:solidFill>
                  <a:srgbClr val="4A556A"/>
                </a:solidFill>
                <a:latin typeface="Inter"/>
              </a:rPr>
              <a:t>Klypup — Investment Research Intelligence</a:t>
            </a:r>
          </a:p>
        </p:txBody>
      </p:sp>
      <p:sp>
        <p:nvSpPr>
          <p:cNvPr id="5" name="TextBox 4"/>
          <p:cNvSpPr txBox="1"/>
          <p:nvPr/>
        </p:nvSpPr>
        <p:spPr>
          <a:xfrm>
            <a:off x="731520" y="3749039"/>
            <a:ext cx="10789920" cy="1371600"/>
          </a:xfrm>
          <a:prstGeom prst="rect">
            <a:avLst/>
          </a:prstGeom>
          <a:noFill/>
        </p:spPr>
        <p:txBody>
          <a:bodyPr wrap="square" lIns="0" rIns="0" tIns="0" bIns="0">
            <a:spAutoFit/>
          </a:bodyPr>
          <a:lstStyle/>
          <a:p>
            <a:pPr algn="l">
              <a:lnSpc>
                <a:spcPct val="140000"/>
              </a:lnSpc>
            </a:pPr>
            <a:r>
              <a:rPr sz="1400" b="0" i="0">
                <a:solidFill>
                  <a:srgbClr val="111B30"/>
                </a:solidFill>
                <a:latin typeface="Inter"/>
              </a:rPr>
              <a:t>Natural-language research agent · Gemini 2.5 Flash function calling · six orchestrated tools · Firestore + Supabase pgvector memory · Server-Sent-Event streaming · free-tier deployable.</a:t>
            </a:r>
          </a:p>
        </p:txBody>
      </p:sp>
      <p:sp>
        <p:nvSpPr>
          <p:cNvPr id="6" name="Rounded Rectangle 5"/>
          <p:cNvSpPr/>
          <p:nvPr/>
        </p:nvSpPr>
        <p:spPr>
          <a:xfrm>
            <a:off x="731520" y="5303520"/>
            <a:ext cx="10789920" cy="822960"/>
          </a:xfrm>
          <a:prstGeom prst="roundRect">
            <a:avLst>
              <a:gd name="adj" fmla="val 6000"/>
            </a:avLst>
          </a:prstGeom>
          <a:solidFill>
            <a:srgbClr val="E3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5376672"/>
            <a:ext cx="10789920" cy="411480"/>
          </a:xfrm>
          <a:prstGeom prst="rect">
            <a:avLst/>
          </a:prstGeom>
          <a:noFill/>
        </p:spPr>
        <p:txBody>
          <a:bodyPr wrap="square" lIns="0" rIns="0" tIns="0" bIns="0">
            <a:spAutoFit/>
          </a:bodyPr>
          <a:lstStyle/>
          <a:p>
            <a:pPr algn="ctr">
              <a:lnSpc>
                <a:spcPct val="125000"/>
              </a:lnSpc>
            </a:pPr>
            <a:r>
              <a:rPr sz="1400" b="1" i="0">
                <a:solidFill>
                  <a:srgbClr val="2D5BD8"/>
                </a:solidFill>
                <a:latin typeface="Inter"/>
              </a:rPr>
              <a:t>▶  Watch the demo</a:t>
            </a:r>
          </a:p>
        </p:txBody>
      </p:sp>
      <p:sp>
        <p:nvSpPr>
          <p:cNvPr id="8" name="TextBox 7"/>
          <p:cNvSpPr txBox="1"/>
          <p:nvPr/>
        </p:nvSpPr>
        <p:spPr>
          <a:xfrm>
            <a:off x="731520" y="5715000"/>
            <a:ext cx="10789920" cy="457200"/>
          </a:xfrm>
          <a:prstGeom prst="rect">
            <a:avLst/>
          </a:prstGeom>
          <a:noFill/>
        </p:spPr>
        <p:txBody>
          <a:bodyPr wrap="square" lIns="0" rIns="0" tIns="0" bIns="0">
            <a:spAutoFit/>
          </a:bodyPr>
          <a:lstStyle/>
          <a:p>
            <a:pPr algn="ctr">
              <a:lnSpc>
                <a:spcPct val="125000"/>
              </a:lnSpc>
            </a:pPr>
            <a:r>
              <a:rPr sz="2000" b="1" i="0">
                <a:solidFill>
                  <a:srgbClr val="111B30"/>
                </a:solidFill>
                <a:latin typeface="Inter"/>
              </a:rPr>
              <a:t>https://youtu.be/7bVMFYfFz_A</a:t>
            </a:r>
          </a:p>
        </p:txBody>
      </p:sp>
      <p:sp>
        <p:nvSpPr>
          <p:cNvPr id="9" name="TextBox 8"/>
          <p:cNvSpPr txBox="1"/>
          <p:nvPr/>
        </p:nvSpPr>
        <p:spPr>
          <a:xfrm>
            <a:off x="731520" y="6400800"/>
            <a:ext cx="10789920" cy="274320"/>
          </a:xfrm>
          <a:prstGeom prst="rect">
            <a:avLst/>
          </a:prstGeom>
          <a:noFill/>
        </p:spPr>
        <p:txBody>
          <a:bodyPr wrap="square" lIns="0" rIns="0" tIns="0" bIns="0">
            <a:spAutoFit/>
          </a:bodyPr>
          <a:lstStyle/>
          <a:p>
            <a:pPr algn="ctr">
              <a:lnSpc>
                <a:spcPct val="125000"/>
              </a:lnSpc>
            </a:pPr>
            <a:r>
              <a:rPr sz="1100" b="0" i="0">
                <a:solidFill>
                  <a:srgbClr val="4A556A"/>
                </a:solidFill>
                <a:latin typeface="Inter"/>
              </a:rPr>
              <a:t>github.com/Sujanraj0306/Klypup-Investment-Research-Intelligence-Platform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